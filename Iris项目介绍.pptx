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docProps/core.xml" ContentType="application/vnd.openxmlformats-package.core-properties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theme/theme3.xml" ContentType="application/vnd.openxmlformats-officedocument.theme+xml"/>
  <Override PartName="/ppt/theme/theme1.xml" ContentType="application/vnd.openxmlformats-officedocument.theme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>
        <p:scale>
          <a:sx n="0" d="6"/>
          <a:sy n="0" d="2"/>
        </p:scale>
        <p:origin x="639467296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theme" Target="theme/theme3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 /><Relationship Id="rId9" Type="http://schemas.openxmlformats.org/officeDocument/2006/relationships/tableStyles" Target="tableStyles.xml" /><Relationship Id="rId10" Type="http://schemas.openxmlformats.org/officeDocument/2006/relationships/viewProps" Target="viewProps.xml" /></Relationships>
</file>

<file path=ppt/handoutMasters/_rels/handout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741888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6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0121463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6200" y="0"/>
            <a:ext cx="2971800" cy="458786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r">
              <a:defRPr sz="1200"/>
            </a:lvl1pPr>
          </a:lstStyle>
          <a:p>
            <a:pPr>
              <a:defRPr/>
            </a:pPr>
            <a:fld id="{8337677B-2C11-D6E6-C501-94A2906B4A96}" type="datetimeFigureOut">
              <a:rPr lang="en-US"/>
              <a:t/>
            </a:fld>
            <a:endParaRPr/>
          </a:p>
        </p:txBody>
      </p:sp>
      <p:sp>
        <p:nvSpPr>
          <p:cNvPr id="4716766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8685213"/>
            <a:ext cx="2971800" cy="458786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747981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886200" y="8685213"/>
            <a:ext cx="2971800" cy="458786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>
              <a:defRPr/>
            </a:pPr>
            <a:fld id="{25D09AAF-C0E6-35BE-A179-5435331860BF}" type="slidenum">
              <a:rPr/>
              <a:t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061675" name="Header Placeholder"/>
          <p:cNvSpPr/>
          <p:nvPr>
            <p:ph type="hdr" sz="quarter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1849711" name="Date Placeholder"/>
          <p:cNvSpPr/>
          <p:nvPr>
            <p:ph type="dt" sz="quarter"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1931146" name="Slide Image Placeholder"/>
          <p:cNvSpPr/>
          <p:nvPr>
            <p:ph type="sldImg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7866765" name="Notes Placeholder"/>
          <p:cNvSpPr/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1873145" name="Footer Placeholder"/>
          <p:cNvSpPr/>
          <p:nvPr>
            <p:ph type="ftr" sz="quarter" idx="4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922376" name="Slide Number Placeholder"/>
          <p:cNvSpPr/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/>
    </a:lvl1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1324921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877430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Iris 是面向交互式艺术展示和嵌入式视觉教学的 FPGA 实时视频风格化原型。系统以 Ti60F225I3 FPGA 和 Sapphire RISC-V 为核心，将摄像头采集、INT8 神经网络推理和 HDMI 对比显示集成在本地。学生网络在 640×480 输入下的基线新风格帧率为 15.02460 FPS，统计窗口为 600.035 秒。页面中的 15.025 FPS 是该基线结果的四舍五入值，不是 HDMI 刷新率。两张照片分别展示整机集成结构和实机彩色轮廓效果，现场照片不用于确认性能测试对应的镜像版本。后续将采用 YOLO 手势检测实现风格选择，联合多风格动态切换；该功能属于后续计划。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资料来源：/home/noir/Documents/workspace/Iris/Iris设计报告.docx，1.2、2.1、2.3.3、3.3.1 节及图 3-1、图 3-2。报告 SHA256：7f25359d397806a6855c150707b6234cafb1d3e45f6291bdd04df71e1be180d9。照片取自该报告 word/media/image8.jpg 与 image11.jpg。</a:t>
            </a:r>
            <a:endParaRPr/>
          </a:p>
        </p:txBody>
      </p:sp>
      <p:sp>
        <p:nvSpPr>
          <p:cNvPr id="1170895463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333583" name="Title"/>
          <p:cNvSpPr>
            <a:spLocks noGrp="1"/>
          </p:cNvSpPr>
          <p:nvPr>
            <p:ph type="title" idx="0"/>
          </p:nvPr>
        </p:nvSpPr>
        <p:spPr bwMode="auto"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50952248" name="Subtitle"/>
          <p:cNvSpPr>
            <a:spLocks noGrp="1"/>
          </p:cNvSpPr>
          <p:nvPr>
            <p:ph type="subTitle" idx="1"/>
          </p:nvPr>
        </p:nvSpPr>
        <p:spPr bwMode="auto"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2445533" name="Section title"/>
          <p:cNvSpPr>
            <a:spLocks noGrp="1"/>
          </p:cNvSpPr>
          <p:nvPr>
            <p:ph type="title" idx="0"/>
          </p:nvPr>
        </p:nvSpPr>
        <p:spPr bwMode="auto"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Title and 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46199" name="Title"/>
          <p:cNvSpPr>
            <a:spLocks noGrp="1"/>
          </p:cNvSpPr>
          <p:nvPr>
            <p:ph type="title" idx="0"/>
          </p:nvPr>
        </p:nvSpPr>
        <p:spPr bwMode="auto"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432723760" name="Body"/>
          <p:cNvSpPr>
            <a:spLocks noGrp="1"/>
          </p:cNvSpPr>
          <p:nvPr>
            <p:ph type="body" idx="1"/>
          </p:nvPr>
        </p:nvSpPr>
        <p:spPr bwMode="auto"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599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199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Title and Two Colum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2891015" name="Title"/>
          <p:cNvSpPr>
            <a:spLocks noGrp="1"/>
          </p:cNvSpPr>
          <p:nvPr>
            <p:ph type="title" idx="0"/>
          </p:nvPr>
        </p:nvSpPr>
        <p:spPr bwMode="auto"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45871574" name="Left column"/>
          <p:cNvSpPr>
            <a:spLocks noGrp="1"/>
          </p:cNvSpPr>
          <p:nvPr>
            <p:ph type="body" idx="1"/>
          </p:nvPr>
        </p:nvSpPr>
        <p:spPr bwMode="auto"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599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199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762958790" name="Right column"/>
          <p:cNvSpPr>
            <a:spLocks noGrp="1"/>
          </p:cNvSpPr>
          <p:nvPr>
            <p:ph type="body" idx="2"/>
          </p:nvPr>
        </p:nvSpPr>
        <p:spPr bwMode="auto"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599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199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Title and One Colum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937423" name="Title"/>
          <p:cNvSpPr>
            <a:spLocks noGrp="1"/>
          </p:cNvSpPr>
          <p:nvPr>
            <p:ph type="title" idx="0"/>
          </p:nvPr>
        </p:nvSpPr>
        <p:spPr bwMode="auto"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21405782" name="Left column"/>
          <p:cNvSpPr>
            <a:spLocks noGrp="1"/>
          </p:cNvSpPr>
          <p:nvPr>
            <p:ph type="body" idx="1"/>
          </p:nvPr>
        </p:nvSpPr>
        <p:spPr bwMode="auto"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599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199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Master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A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8319938" name="Iris 项目名称"/>
          <p:cNvSpPr>
            <a:spLocks noGrp="1"/>
          </p:cNvSpPr>
          <p:nvPr/>
        </p:nvSpPr>
        <p:spPr bwMode="auto">
          <a:xfrm>
            <a:off x="533400" y="285750"/>
            <a:ext cx="1447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80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480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480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480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480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480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480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480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480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480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20000"/>
              </a:lnSpc>
              <a:buNone/>
              <a:defRPr sz="480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80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rPr>
              <a:t>Iris</a:t>
            </a:r>
            <a:endParaRPr/>
          </a:p>
        </p:txBody>
      </p:sp>
      <p:sp>
        <p:nvSpPr>
          <p:cNvPr id="345903426" name="项目主题"/>
          <p:cNvSpPr>
            <a:spLocks noGrp="1"/>
          </p:cNvSpPr>
          <p:nvPr/>
        </p:nvSpPr>
        <p:spPr bwMode="auto">
          <a:xfrm>
            <a:off x="2057400" y="514350"/>
            <a:ext cx="96012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20202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20202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20202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20202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20202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20202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20202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20202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20202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20202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20000"/>
              </a:lnSpc>
              <a:buNone/>
              <a:defRPr sz="2700" b="1">
                <a:solidFill>
                  <a:srgbClr val="2020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20202B"/>
                </a:solidFill>
                <a:latin typeface="Noto Sans CJK SC"/>
                <a:ea typeface="Noto Sans CJK SC"/>
                <a:cs typeface="Noto Sans CJK SC"/>
              </a:rPr>
              <a:t>基于 FPGA 的实时视频风格化系统</a:t>
            </a:r>
            <a:endParaRPr/>
          </a:p>
        </p:txBody>
      </p:sp>
      <p:sp>
        <p:nvSpPr>
          <p:cNvPr id="1759707737" name="应用方向"/>
          <p:cNvSpPr>
            <a:spLocks noGrp="1"/>
          </p:cNvSpPr>
          <p:nvPr/>
        </p:nvSpPr>
        <p:spPr bwMode="auto">
          <a:xfrm>
            <a:off x="533400" y="1219200"/>
            <a:ext cx="111252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00" b="0">
                <a:solidFill>
                  <a:srgbClr val="69687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00" b="0">
                <a:solidFill>
                  <a:srgbClr val="69687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00" b="0">
                <a:solidFill>
                  <a:srgbClr val="69687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00" b="0">
                <a:solidFill>
                  <a:srgbClr val="69687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00" b="0">
                <a:solidFill>
                  <a:srgbClr val="69687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00" b="0">
                <a:solidFill>
                  <a:srgbClr val="69687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00" b="0">
                <a:solidFill>
                  <a:srgbClr val="69687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00" b="0">
                <a:solidFill>
                  <a:srgbClr val="69687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00" b="0">
                <a:solidFill>
                  <a:srgbClr val="69687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00" b="0">
                <a:solidFill>
                  <a:srgbClr val="69687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20000"/>
              </a:lnSpc>
              <a:buNone/>
              <a:defRPr sz="1900" b="0">
                <a:solidFill>
                  <a:srgbClr val="696875"/>
                </a:solidFill>
                <a:latin typeface="Noto Sans CJK SC"/>
                <a:ea typeface="Noto Sans CJK SC"/>
                <a:cs typeface="Noto Sans CJK SC"/>
              </a:defRPr>
            </a:pPr>
            <a:endParaRPr/>
          </a:p>
        </p:txBody>
      </p:sp>
      <p:sp>
        <p:nvSpPr>
          <p:cNvPr id="780916623" name="背景标题"/>
          <p:cNvSpPr>
            <a:spLocks noGrp="1"/>
          </p:cNvSpPr>
          <p:nvPr/>
        </p:nvSpPr>
        <p:spPr bwMode="auto">
          <a:xfrm>
            <a:off x="533400" y="2028825"/>
            <a:ext cx="51054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0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0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0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0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0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0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0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0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0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0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20000"/>
              </a:lnSpc>
              <a:buNone/>
              <a:defRPr sz="190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0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rPr>
              <a:t>项目背景</a:t>
            </a:r>
            <a:endParaRPr/>
          </a:p>
        </p:txBody>
      </p:sp>
      <p:sp>
        <p:nvSpPr>
          <p:cNvPr id="817163090" name="背景说明"/>
          <p:cNvSpPr>
            <a:spLocks noGrp="1"/>
          </p:cNvSpPr>
          <p:nvPr/>
        </p:nvSpPr>
        <p:spPr bwMode="auto">
          <a:xfrm>
            <a:off x="533400" y="2457450"/>
            <a:ext cx="5200650" cy="828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0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0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0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0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0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0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0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0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0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0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35000"/>
              </a:lnSpc>
              <a:buNone/>
              <a:defRPr sz="190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0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rPr>
              <a:t>探索资源受限平台上的实时风格迁移，</a:t>
            </a:r>
            <a:endParaRPr/>
          </a:p>
          <a:p>
            <a:pPr algn="l">
              <a:lnSpc>
                <a:spcPct val="135000"/>
              </a:lnSpc>
              <a:buNone/>
              <a:defRPr sz="190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0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rPr>
              <a:t>让摄像头画面以艺术化效果实时呈现。</a:t>
            </a:r>
            <a:endParaRPr/>
          </a:p>
        </p:txBody>
      </p:sp>
      <p:sp>
        <p:nvSpPr>
          <p:cNvPr id="616348284" name="方案标题"/>
          <p:cNvSpPr>
            <a:spLocks noGrp="1"/>
          </p:cNvSpPr>
          <p:nvPr/>
        </p:nvSpPr>
        <p:spPr bwMode="auto">
          <a:xfrm>
            <a:off x="533400" y="3676650"/>
            <a:ext cx="52006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0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0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0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0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0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0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0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0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0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0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20000"/>
              </a:lnSpc>
              <a:buNone/>
              <a:defRPr sz="190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0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rPr>
              <a:t>系统方案</a:t>
            </a:r>
            <a:endParaRPr/>
          </a:p>
        </p:txBody>
      </p:sp>
      <p:sp>
        <p:nvSpPr>
          <p:cNvPr id="468962500" name="方案说明"/>
          <p:cNvSpPr>
            <a:spLocks noGrp="1"/>
          </p:cNvSpPr>
          <p:nvPr/>
        </p:nvSpPr>
        <p:spPr bwMode="auto">
          <a:xfrm>
            <a:off x="533400" y="4105275"/>
            <a:ext cx="5334000" cy="1171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0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0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0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0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0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0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0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0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0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0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35000"/>
              </a:lnSpc>
              <a:buNone/>
              <a:defRPr sz="190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0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rPr>
              <a:t>以 Ti60F225I3 FPGA 与 RISC-V 为核心，</a:t>
            </a:r>
            <a:endParaRPr/>
          </a:p>
          <a:p>
            <a:pPr algn="l">
              <a:lnSpc>
                <a:spcPct val="135000"/>
              </a:lnSpc>
              <a:buNone/>
              <a:defRPr sz="190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0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rPr>
              <a:t>完成摄像头采集、INT8 神经网络推理，</a:t>
            </a:r>
            <a:endParaRPr/>
          </a:p>
          <a:p>
            <a:pPr algn="l">
              <a:lnSpc>
                <a:spcPct val="135000"/>
              </a:lnSpc>
              <a:buNone/>
              <a:defRPr sz="190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0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rPr>
              <a:t>通过 HDMI 对比显示原图与风格结果。</a:t>
            </a:r>
            <a:endParaRPr/>
          </a:p>
        </p:txBody>
      </p:sp>
      <p:pic>
        <p:nvPicPr>
          <p:cNvPr id="185489867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191250" y="2028874"/>
            <a:ext cx="2590800" cy="1944620"/>
          </a:xfrm>
          <a:prstGeom prst="rect">
            <a:avLst/>
          </a:prstGeom>
        </p:spPr>
      </p:pic>
      <p:sp>
        <p:nvSpPr>
          <p:cNvPr id="1148467392" name="实物图注"/>
          <p:cNvSpPr>
            <a:spLocks noGrp="1"/>
          </p:cNvSpPr>
          <p:nvPr/>
        </p:nvSpPr>
        <p:spPr bwMode="auto">
          <a:xfrm>
            <a:off x="6191250" y="4114800"/>
            <a:ext cx="2590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9687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69687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69687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69687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69687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69687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69687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69687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69687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69687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20000"/>
              </a:lnSpc>
              <a:buNone/>
              <a:defRPr sz="1650" b="0">
                <a:solidFill>
                  <a:srgbClr val="69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96875"/>
                </a:solidFill>
                <a:latin typeface="Noto Sans CJK SC"/>
                <a:ea typeface="Noto Sans CJK SC"/>
                <a:cs typeface="Noto Sans CJK SC"/>
              </a:rPr>
              <a:t>整机实物</a:t>
            </a:r>
            <a:endParaRPr/>
          </a:p>
        </p:txBody>
      </p:sp>
      <p:sp>
        <p:nvSpPr>
          <p:cNvPr id="1841835698" name="效果图注"/>
          <p:cNvSpPr>
            <a:spLocks noGrp="1"/>
          </p:cNvSpPr>
          <p:nvPr/>
        </p:nvSpPr>
        <p:spPr bwMode="auto">
          <a:xfrm>
            <a:off x="9010650" y="4114800"/>
            <a:ext cx="2647949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9687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69687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69687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69687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69687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69687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69687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69687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69687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69687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20000"/>
              </a:lnSpc>
              <a:buNone/>
              <a:defRPr sz="1650" b="0">
                <a:solidFill>
                  <a:srgbClr val="69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96875"/>
                </a:solidFill>
                <a:latin typeface="Noto Sans CJK SC"/>
                <a:ea typeface="Noto Sans CJK SC"/>
                <a:cs typeface="Noto Sans CJK SC"/>
              </a:rPr>
              <a:t>风格轮廓展示</a:t>
            </a:r>
            <a:endParaRPr/>
          </a:p>
        </p:txBody>
      </p:sp>
      <p:sp>
        <p:nvSpPr>
          <p:cNvPr id="1409986577" name="输入尺寸"/>
          <p:cNvSpPr>
            <a:spLocks noGrp="1"/>
          </p:cNvSpPr>
          <p:nvPr/>
        </p:nvSpPr>
        <p:spPr bwMode="auto">
          <a:xfrm>
            <a:off x="6191250" y="4714875"/>
            <a:ext cx="2590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20000"/>
              </a:lnSpc>
              <a:buNone/>
              <a:defRPr sz="315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rPr>
              <a:t>640×480</a:t>
            </a:r>
            <a:endParaRPr/>
          </a:p>
        </p:txBody>
      </p:sp>
      <p:sp>
        <p:nvSpPr>
          <p:cNvPr id="878763141" name="输入尺寸说明"/>
          <p:cNvSpPr>
            <a:spLocks noGrp="1"/>
          </p:cNvSpPr>
          <p:nvPr/>
        </p:nvSpPr>
        <p:spPr bwMode="auto">
          <a:xfrm>
            <a:off x="6191250" y="5276850"/>
            <a:ext cx="2590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5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5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5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5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5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5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5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5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5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5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20000"/>
              </a:lnSpc>
              <a:buNone/>
              <a:defRPr sz="175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5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rPr>
              <a:t>学生网络输入</a:t>
            </a:r>
            <a:endParaRPr/>
          </a:p>
        </p:txBody>
      </p:sp>
      <p:sp>
        <p:nvSpPr>
          <p:cNvPr id="1676267675" name="基线新帧率"/>
          <p:cNvSpPr>
            <a:spLocks noGrp="1"/>
          </p:cNvSpPr>
          <p:nvPr/>
        </p:nvSpPr>
        <p:spPr bwMode="auto">
          <a:xfrm>
            <a:off x="9010650" y="4714875"/>
            <a:ext cx="2647949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20000"/>
              </a:lnSpc>
              <a:buNone/>
              <a:defRPr sz="315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rPr>
              <a:t>30.015 FPS</a:t>
            </a:r>
            <a:endParaRPr/>
          </a:p>
        </p:txBody>
      </p:sp>
      <p:sp>
        <p:nvSpPr>
          <p:cNvPr id="1982061054" name="帧率说明"/>
          <p:cNvSpPr>
            <a:spLocks noGrp="1"/>
          </p:cNvSpPr>
          <p:nvPr/>
        </p:nvSpPr>
        <p:spPr bwMode="auto">
          <a:xfrm>
            <a:off x="9010650" y="5276850"/>
            <a:ext cx="2647949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5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5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5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5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5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5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5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5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5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5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20000"/>
              </a:lnSpc>
              <a:buNone/>
              <a:defRPr sz="175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50" b="0">
                <a:solidFill>
                  <a:srgbClr val="444451"/>
                </a:solidFill>
                <a:latin typeface="Noto Sans CJK SC"/>
                <a:ea typeface="Noto Sans CJK SC"/>
                <a:cs typeface="Noto Sans CJK SC"/>
              </a:rPr>
              <a:t>基线风格化新帧率</a:t>
            </a:r>
            <a:endParaRPr/>
          </a:p>
        </p:txBody>
      </p:sp>
      <p:sp>
        <p:nvSpPr>
          <p:cNvPr id="1265205533" name="测试窗口"/>
          <p:cNvSpPr>
            <a:spLocks noGrp="1"/>
          </p:cNvSpPr>
          <p:nvPr/>
        </p:nvSpPr>
        <p:spPr bwMode="auto">
          <a:xfrm>
            <a:off x="6191250" y="5638800"/>
            <a:ext cx="5467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50" b="0">
                <a:solidFill>
                  <a:srgbClr val="69687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50" b="0">
                <a:solidFill>
                  <a:srgbClr val="69687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50" b="0">
                <a:solidFill>
                  <a:srgbClr val="69687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50" b="0">
                <a:solidFill>
                  <a:srgbClr val="69687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50" b="0">
                <a:solidFill>
                  <a:srgbClr val="69687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50" b="0">
                <a:solidFill>
                  <a:srgbClr val="69687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50" b="0">
                <a:solidFill>
                  <a:srgbClr val="69687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50" b="0">
                <a:solidFill>
                  <a:srgbClr val="69687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50" b="0">
                <a:solidFill>
                  <a:srgbClr val="69687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50" b="0">
                <a:solidFill>
                  <a:srgbClr val="69687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20000"/>
              </a:lnSpc>
              <a:buNone/>
              <a:defRPr sz="1450" b="0">
                <a:solidFill>
                  <a:srgbClr val="69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50" b="0">
                <a:solidFill>
                  <a:srgbClr val="696875"/>
                </a:solidFill>
                <a:latin typeface="Noto Sans CJK SC"/>
                <a:ea typeface="Noto Sans CJK SC"/>
                <a:cs typeface="Noto Sans CJK SC"/>
              </a:rPr>
              <a:t>帧率统计窗口为 600 秒</a:t>
            </a:r>
            <a:endParaRPr/>
          </a:p>
        </p:txBody>
      </p:sp>
      <p:sp>
        <p:nvSpPr>
          <p:cNvPr id="289122891" name="后续计划标题"/>
          <p:cNvSpPr>
            <a:spLocks noGrp="1"/>
          </p:cNvSpPr>
          <p:nvPr/>
        </p:nvSpPr>
        <p:spPr bwMode="auto">
          <a:xfrm>
            <a:off x="533400" y="6229350"/>
            <a:ext cx="12001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20000"/>
              </a:lnSpc>
              <a:buNone/>
              <a:defRPr sz="180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583082"/>
                </a:solidFill>
                <a:latin typeface="Noto Sans CJK SC"/>
                <a:ea typeface="Noto Sans CJK SC"/>
                <a:cs typeface="Noto Sans CJK SC"/>
              </a:rPr>
              <a:t>后续计划</a:t>
            </a:r>
            <a:endParaRPr/>
          </a:p>
        </p:txBody>
      </p:sp>
      <p:sp>
        <p:nvSpPr>
          <p:cNvPr id="586924640" name="后续计划内容"/>
          <p:cNvSpPr>
            <a:spLocks noGrp="1"/>
          </p:cNvSpPr>
          <p:nvPr/>
        </p:nvSpPr>
        <p:spPr bwMode="auto">
          <a:xfrm>
            <a:off x="1809750" y="6229350"/>
            <a:ext cx="98488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0202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0">
                <a:solidFill>
                  <a:srgbClr val="20202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0">
                <a:solidFill>
                  <a:srgbClr val="20202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0">
                <a:solidFill>
                  <a:srgbClr val="20202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0">
                <a:solidFill>
                  <a:srgbClr val="20202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0">
                <a:solidFill>
                  <a:srgbClr val="20202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0">
                <a:solidFill>
                  <a:srgbClr val="20202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0">
                <a:solidFill>
                  <a:srgbClr val="20202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0">
                <a:solidFill>
                  <a:srgbClr val="20202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0">
                <a:solidFill>
                  <a:srgbClr val="20202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20000"/>
              </a:lnSpc>
              <a:buNone/>
              <a:defRPr sz="1800" b="0">
                <a:solidFill>
                  <a:srgbClr val="2020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0202B"/>
                </a:solidFill>
                <a:latin typeface="Noto Sans CJK SC"/>
                <a:ea typeface="Noto Sans CJK SC"/>
                <a:cs typeface="Noto Sans CJK SC"/>
              </a:rPr>
              <a:t>采用 YOLO 手势识别，联动多风格动态切换</a:t>
            </a:r>
            <a:endParaRPr/>
          </a:p>
        </p:txBody>
      </p:sp>
      <p:pic>
        <p:nvPicPr>
          <p:cNvPr id="1776540547" name="图片 19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9010649" y="1985977"/>
            <a:ext cx="2647949" cy="19875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ONLYOFFICE/10.0.0.169</Application>
  <DocSecurity>0</DocSecurity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/>
  <cp:revision>1</cp:revision>
  <dcterms:created xsi:type="dcterms:W3CDTF">2026-10-24T04:17:29Z</dcterms:created>
  <dcterms:modified xsi:type="dcterms:W3CDTF">2026-10-24T04:25:21Z</dcterms:modified>
</cp:coreProperties>
</file>